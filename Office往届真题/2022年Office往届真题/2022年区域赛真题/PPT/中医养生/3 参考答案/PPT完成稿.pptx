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409" r:id="rId2"/>
    <p:sldId id="410" r:id="rId3"/>
    <p:sldId id="411" r:id="rId4"/>
    <p:sldId id="412" r:id="rId5"/>
    <p:sldId id="413" r:id="rId6"/>
    <p:sldId id="414" r:id="rId7"/>
    <p:sldId id="41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B26F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02" y="108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" Type="http://schemas.openxmlformats.org/officeDocument/2006/relationships/tags" Target="../tags/tag9.xml"/><Relationship Id="rId21" Type="http://schemas.microsoft.com/office/2007/relationships/hdphoto" Target="../media/hdphoto1.wdp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image" Target="../media/image1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10" Type="http://schemas.openxmlformats.org/officeDocument/2006/relationships/tags" Target="../tags/tag16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microsoft.com/office/2007/relationships/hdphoto" Target="../media/hdphoto1.wdp"/><Relationship Id="rId2" Type="http://schemas.openxmlformats.org/officeDocument/2006/relationships/tags" Target="../tags/tag40.xml"/><Relationship Id="rId16" Type="http://schemas.openxmlformats.org/officeDocument/2006/relationships/image" Target="../media/image1.pn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0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2" Type="http://schemas.openxmlformats.org/officeDocument/2006/relationships/tags" Target="../tags/tag94.xml"/><Relationship Id="rId16" Type="http://schemas.microsoft.com/office/2007/relationships/hdphoto" Target="../media/hdphoto1.wdp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image" Target="../media/image1.png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0.xml"/><Relationship Id="rId4" Type="http://schemas.openxmlformats.org/officeDocument/2006/relationships/tags" Target="../tags/tag11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0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5.xml"/><Relationship Id="rId4" Type="http://schemas.openxmlformats.org/officeDocument/2006/relationships/tags" Target="../tags/tag1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1"/>
            </p:custDataLst>
          </p:nvPr>
        </p:nvSpPr>
        <p:spPr>
          <a:xfrm rot="746688">
            <a:off x="5494338" y="250825"/>
            <a:ext cx="2959100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2"/>
            </p:custDataLst>
          </p:nvPr>
        </p:nvSpPr>
        <p:spPr>
          <a:xfrm>
            <a:off x="0" y="4397375"/>
            <a:ext cx="1003300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grpSp>
        <p:nvGrpSpPr>
          <p:cNvPr id="7" name="组合 14"/>
          <p:cNvGrpSpPr/>
          <p:nvPr>
            <p:custDataLst>
              <p:tags r:id="rId3"/>
            </p:custDataLst>
          </p:nvPr>
        </p:nvGrpSpPr>
        <p:grpSpPr bwMode="auto">
          <a:xfrm>
            <a:off x="1295400" y="1522413"/>
            <a:ext cx="315913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17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18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4"/>
            </p:custDataLst>
          </p:nvPr>
        </p:nvSpPr>
        <p:spPr>
          <a:xfrm>
            <a:off x="849630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2" name="等腰三角形 11"/>
          <p:cNvSpPr/>
          <p:nvPr>
            <p:custDataLst>
              <p:tags r:id="rId5"/>
            </p:custDataLst>
          </p:nvPr>
        </p:nvSpPr>
        <p:spPr>
          <a:xfrm rot="10800000">
            <a:off x="1026795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3" name="等腰三角形 12"/>
          <p:cNvSpPr/>
          <p:nvPr>
            <p:custDataLst>
              <p:tags r:id="rId6"/>
            </p:custDataLst>
          </p:nvPr>
        </p:nvSpPr>
        <p:spPr>
          <a:xfrm rot="10800000">
            <a:off x="7061983" y="647700"/>
            <a:ext cx="1501775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4" name="等腰三角形 13"/>
          <p:cNvSpPr/>
          <p:nvPr>
            <p:custDataLst>
              <p:tags r:id="rId7"/>
            </p:custDataLst>
          </p:nvPr>
        </p:nvSpPr>
        <p:spPr>
          <a:xfrm rot="10800000">
            <a:off x="7440035" y="0"/>
            <a:ext cx="1501775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5" name="任意多边形 46"/>
          <p:cNvSpPr/>
          <p:nvPr>
            <p:custDataLst>
              <p:tags r:id="rId8"/>
            </p:custDataLst>
          </p:nvPr>
        </p:nvSpPr>
        <p:spPr>
          <a:xfrm rot="746688">
            <a:off x="6005513" y="92075"/>
            <a:ext cx="1304925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6" name="等腰三角形 24"/>
          <p:cNvSpPr/>
          <p:nvPr>
            <p:custDataLst>
              <p:tags r:id="rId9"/>
            </p:custDataLst>
          </p:nvPr>
        </p:nvSpPr>
        <p:spPr>
          <a:xfrm rot="10800000">
            <a:off x="95345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cxnSp>
        <p:nvCxnSpPr>
          <p:cNvPr id="18" name="直接连接符 17"/>
          <p:cNvCxnSpPr/>
          <p:nvPr>
            <p:custDataLst>
              <p:tags r:id="rId10"/>
            </p:custDataLst>
          </p:nvPr>
        </p:nvCxnSpPr>
        <p:spPr>
          <a:xfrm>
            <a:off x="1358945" y="4795838"/>
            <a:ext cx="590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1198799" y="2009457"/>
            <a:ext cx="6243723" cy="1198800"/>
          </a:xfrm>
        </p:spPr>
        <p:txBody>
          <a:bodyPr anchor="ctr">
            <a:normAutofit/>
          </a:bodyPr>
          <a:lstStyle>
            <a:lvl1pPr algn="l">
              <a:defRPr sz="60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1198880" y="3313163"/>
            <a:ext cx="340868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编辑副标题</a:t>
            </a:r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52747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0956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1"/>
            </p:custDataLst>
          </p:nvPr>
        </p:nvSpPr>
        <p:spPr>
          <a:xfrm rot="746688">
            <a:off x="11557000" y="5489575"/>
            <a:ext cx="7112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46"/>
          <p:cNvSpPr/>
          <p:nvPr>
            <p:custDataLst>
              <p:tags r:id="rId2"/>
            </p:custDataLst>
          </p:nvPr>
        </p:nvSpPr>
        <p:spPr>
          <a:xfrm rot="746688">
            <a:off x="-77788" y="722313"/>
            <a:ext cx="7112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任意多边形 46"/>
          <p:cNvSpPr/>
          <p:nvPr>
            <p:custDataLst>
              <p:tags r:id="rId3"/>
            </p:custDataLst>
          </p:nvPr>
        </p:nvSpPr>
        <p:spPr>
          <a:xfrm rot="746688">
            <a:off x="-55563" y="68263"/>
            <a:ext cx="712788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 46"/>
          <p:cNvSpPr/>
          <p:nvPr>
            <p:custDataLst>
              <p:tags r:id="rId4"/>
            </p:custDataLst>
          </p:nvPr>
        </p:nvSpPr>
        <p:spPr>
          <a:xfrm rot="746688">
            <a:off x="11552238" y="6053138"/>
            <a:ext cx="7112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任意多边形: 形状 7"/>
          <p:cNvSpPr/>
          <p:nvPr>
            <p:custDataLst>
              <p:tags r:id="rId5"/>
            </p:custDataLst>
          </p:nvPr>
        </p:nvSpPr>
        <p:spPr>
          <a:xfrm>
            <a:off x="10974388" y="0"/>
            <a:ext cx="1217612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9" name="任意多边形: 形状 8"/>
          <p:cNvSpPr/>
          <p:nvPr>
            <p:custDataLst>
              <p:tags r:id="rId6"/>
            </p:custDataLst>
          </p:nvPr>
        </p:nvSpPr>
        <p:spPr>
          <a:xfrm rot="10800000">
            <a:off x="11679238" y="0"/>
            <a:ext cx="51276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0" name="等腰三角形 24"/>
          <p:cNvSpPr/>
          <p:nvPr>
            <p:custDataLst>
              <p:tags r:id="rId7"/>
            </p:custDataLst>
          </p:nvPr>
        </p:nvSpPr>
        <p:spPr>
          <a:xfrm rot="10800000">
            <a:off x="11387138" y="863600"/>
            <a:ext cx="676275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1" name="等腰三角形 6"/>
          <p:cNvSpPr/>
          <p:nvPr>
            <p:custDataLst>
              <p:tags r:id="rId8"/>
            </p:custDataLst>
          </p:nvPr>
        </p:nvSpPr>
        <p:spPr>
          <a:xfrm>
            <a:off x="0" y="5688013"/>
            <a:ext cx="481013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2" name="等腰三角形 11"/>
          <p:cNvSpPr/>
          <p:nvPr>
            <p:custDataLst>
              <p:tags r:id="rId9"/>
            </p:custDataLst>
          </p:nvPr>
        </p:nvSpPr>
        <p:spPr>
          <a:xfrm>
            <a:off x="392113" y="5200650"/>
            <a:ext cx="676275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 smtClean="0"/>
              <a:t>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83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1"/>
            </p:custDataLst>
          </p:nvPr>
        </p:nvSpPr>
        <p:spPr>
          <a:xfrm>
            <a:off x="849630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等腰三角形 4"/>
          <p:cNvSpPr/>
          <p:nvPr>
            <p:custDataLst>
              <p:tags r:id="rId2"/>
            </p:custDataLst>
          </p:nvPr>
        </p:nvSpPr>
        <p:spPr>
          <a:xfrm rot="10800000">
            <a:off x="1026795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 rot="10800000">
            <a:off x="7061983" y="647700"/>
            <a:ext cx="1501775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等腰三角形 6"/>
          <p:cNvSpPr/>
          <p:nvPr>
            <p:custDataLst>
              <p:tags r:id="rId4"/>
            </p:custDataLst>
          </p:nvPr>
        </p:nvSpPr>
        <p:spPr>
          <a:xfrm rot="10800000">
            <a:off x="7440035" y="0"/>
            <a:ext cx="1501775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等腰三角形 24"/>
          <p:cNvSpPr/>
          <p:nvPr>
            <p:custDataLst>
              <p:tags r:id="rId5"/>
            </p:custDataLst>
          </p:nvPr>
        </p:nvSpPr>
        <p:spPr>
          <a:xfrm rot="10800000">
            <a:off x="95345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grpSp>
        <p:nvGrpSpPr>
          <p:cNvPr id="10" name="组合 14"/>
          <p:cNvGrpSpPr/>
          <p:nvPr>
            <p:custDataLst>
              <p:tags r:id="rId6"/>
            </p:custDataLst>
          </p:nvPr>
        </p:nvGrpSpPr>
        <p:grpSpPr bwMode="auto">
          <a:xfrm flipH="1">
            <a:off x="-312738" y="88900"/>
            <a:ext cx="2957513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13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2" name="任意多边形 46"/>
            <p:cNvSpPr/>
            <p:nvPr>
              <p:custDataLst>
                <p:tags r:id="rId14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884282" y="3414578"/>
            <a:ext cx="5017135" cy="8631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1884281" y="4332272"/>
            <a:ext cx="5017134" cy="111222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编辑母版文本样式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52747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870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 smtClean="0"/>
              <a:t>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79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 smtClean="0"/>
              <a:t>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 smtClean="0"/>
              <a:t>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97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83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1"/>
            </p:custDataLst>
          </p:nvPr>
        </p:nvSpPr>
        <p:spPr>
          <a:xfrm rot="746688">
            <a:off x="11557000" y="5489575"/>
            <a:ext cx="7112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3" name="任意多边形 46"/>
          <p:cNvSpPr/>
          <p:nvPr>
            <p:custDataLst>
              <p:tags r:id="rId2"/>
            </p:custDataLst>
          </p:nvPr>
        </p:nvSpPr>
        <p:spPr>
          <a:xfrm rot="746688">
            <a:off x="-77788" y="722313"/>
            <a:ext cx="7112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4" name="任意多边形 46"/>
          <p:cNvSpPr/>
          <p:nvPr>
            <p:custDataLst>
              <p:tags r:id="rId3"/>
            </p:custDataLst>
          </p:nvPr>
        </p:nvSpPr>
        <p:spPr>
          <a:xfrm rot="746688">
            <a:off x="-55563" y="68263"/>
            <a:ext cx="712788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46"/>
          <p:cNvSpPr/>
          <p:nvPr>
            <p:custDataLst>
              <p:tags r:id="rId4"/>
            </p:custDataLst>
          </p:nvPr>
        </p:nvSpPr>
        <p:spPr>
          <a:xfrm rot="746688">
            <a:off x="11552238" y="6053138"/>
            <a:ext cx="7112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16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 smtClean="0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  <a:t>2022/10/27</a:t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96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35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 smtClean="0"/>
              <a:t>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63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1"/>
            </p:custDataLst>
          </p:nvPr>
        </p:nvSpPr>
        <p:spPr>
          <a:xfrm flipH="1">
            <a:off x="11188700" y="4403725"/>
            <a:ext cx="1003300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4" name="任意多边形 45"/>
          <p:cNvSpPr/>
          <p:nvPr>
            <p:custDataLst>
              <p:tags r:id="rId2"/>
            </p:custDataLst>
          </p:nvPr>
        </p:nvSpPr>
        <p:spPr>
          <a:xfrm rot="20853312" flipH="1">
            <a:off x="3738563" y="250825"/>
            <a:ext cx="2959100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12"/>
          <p:cNvSpPr/>
          <p:nvPr>
            <p:custDataLst>
              <p:tags r:id="rId3"/>
            </p:custDataLst>
          </p:nvPr>
        </p:nvSpPr>
        <p:spPr>
          <a:xfrm flipH="1">
            <a:off x="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 flipH="1">
            <a:off x="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 flipH="1">
            <a:off x="3628078" y="647700"/>
            <a:ext cx="1503363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等腰三角形 7"/>
          <p:cNvSpPr/>
          <p:nvPr>
            <p:custDataLst>
              <p:tags r:id="rId6"/>
            </p:custDataLst>
          </p:nvPr>
        </p:nvSpPr>
        <p:spPr>
          <a:xfrm rot="10800000" flipH="1">
            <a:off x="3261303" y="0"/>
            <a:ext cx="1503363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9" name="任意多边形 46"/>
          <p:cNvSpPr/>
          <p:nvPr>
            <p:custDataLst>
              <p:tags r:id="rId7"/>
            </p:custDataLst>
          </p:nvPr>
        </p:nvSpPr>
        <p:spPr>
          <a:xfrm rot="20853312" flipH="1">
            <a:off x="4881563" y="92075"/>
            <a:ext cx="1304925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 flipH="1">
            <a:off x="9620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657520" y="2420938"/>
            <a:ext cx="5616118" cy="2016125"/>
          </a:xfrm>
        </p:spPr>
        <p:txBody>
          <a:bodyPr anchor="ctr">
            <a:normAutofit/>
          </a:bodyPr>
          <a:lstStyle>
            <a:lvl1pPr algn="ctr">
              <a:defRPr sz="8000" spc="600"/>
            </a:lvl1pPr>
          </a:lstStyle>
          <a:p>
            <a:r>
              <a:rPr lang="zh-CN" altLang="en-US" noProof="1"/>
              <a:t>编辑标题</a:t>
            </a:r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388585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75073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单击图标添加图片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353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0302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47426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2022/10/27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1100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56" r:id="rId15"/>
    <p:sldLayoutId id="2147483658" r:id="rId16"/>
    <p:sldLayoutId id="2147483659" r:id="rId17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中医养生保健</a:t>
            </a:r>
            <a:endParaRPr lang="zh-CN" altLang="en-US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社区卫生服务中心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春</a:t>
            </a:r>
            <a:r>
              <a:rPr lang="zh-CN" altLang="en-US" dirty="0" smtClean="0"/>
              <a:t>季</a:t>
            </a:r>
            <a:r>
              <a:rPr lang="zh-CN" altLang="en-US" dirty="0"/>
              <a:t>养生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888" y="1412875"/>
            <a:ext cx="10800000" cy="3960000"/>
          </a:xfrm>
          <a:solidFill>
            <a:srgbClr val="F5B26F"/>
          </a:solidFill>
          <a:effectLst>
            <a:softEdge rad="317500"/>
          </a:effectLst>
        </p:spPr>
        <p:txBody>
          <a:bodyPr/>
          <a:lstStyle/>
          <a:p>
            <a:r>
              <a:rPr lang="zh-CN" altLang="en-US" sz="2400" dirty="0" smtClean="0"/>
              <a:t>春季</a:t>
            </a:r>
            <a:r>
              <a:rPr lang="zh-CN" altLang="en-US" sz="2400" dirty="0"/>
              <a:t>，是</a:t>
            </a:r>
            <a:r>
              <a:rPr lang="zh-CN" altLang="en-US" sz="2400" dirty="0" smtClean="0"/>
              <a:t>从立春之</a:t>
            </a:r>
            <a:r>
              <a:rPr lang="zh-CN" altLang="en-US" sz="2400" dirty="0"/>
              <a:t>日起，</a:t>
            </a:r>
            <a:r>
              <a:rPr lang="zh-CN" altLang="en-US" sz="2400" dirty="0" smtClean="0"/>
              <a:t>到</a:t>
            </a:r>
            <a:r>
              <a:rPr lang="zh-CN" altLang="en-US" sz="2400" dirty="0"/>
              <a:t>立夏</a:t>
            </a:r>
            <a:r>
              <a:rPr lang="zh-CN" altLang="en-US" sz="2400" dirty="0" smtClean="0"/>
              <a:t>之</a:t>
            </a:r>
            <a:r>
              <a:rPr lang="zh-CN" altLang="en-US" sz="2400" dirty="0"/>
              <a:t>日止，即</a:t>
            </a:r>
            <a:r>
              <a:rPr lang="zh-CN" altLang="en-US" sz="2400" dirty="0" smtClean="0"/>
              <a:t>农历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月</a:t>
            </a:r>
            <a:r>
              <a:rPr lang="zh-CN" altLang="en-US" sz="2400" dirty="0"/>
              <a:t>，期间经过</a:t>
            </a:r>
            <a:r>
              <a:rPr lang="zh-CN" altLang="en-US" sz="2400" dirty="0" smtClean="0"/>
              <a:t>立春、雨水、惊蛰、春分、清明、谷雨六</a:t>
            </a:r>
            <a:r>
              <a:rPr lang="zh-CN" altLang="en-US" sz="2400" dirty="0"/>
              <a:t>个节气。</a:t>
            </a:r>
          </a:p>
          <a:p>
            <a:r>
              <a:rPr lang="zh-CN" altLang="en-US" sz="2400" dirty="0" smtClean="0"/>
              <a:t>春季，</a:t>
            </a:r>
            <a:r>
              <a:rPr lang="zh-CN" altLang="en-US" sz="2400" dirty="0"/>
              <a:t>万物</a:t>
            </a:r>
            <a:r>
              <a:rPr lang="zh-CN" altLang="en-US" sz="2400" dirty="0" smtClean="0"/>
              <a:t>复苏的</a:t>
            </a:r>
            <a:r>
              <a:rPr lang="zh-CN" altLang="en-US" sz="2400" dirty="0"/>
              <a:t>季节</a:t>
            </a:r>
            <a:r>
              <a:rPr lang="zh-CN" altLang="en-US" sz="2400" dirty="0" smtClean="0"/>
              <a:t>，随着</a:t>
            </a:r>
            <a:r>
              <a:rPr lang="zh-CN" altLang="en-US" sz="2400" dirty="0"/>
              <a:t>气候的转暖和户外活动的增多，人们的精神活动亦开始活跃</a:t>
            </a:r>
            <a:r>
              <a:rPr lang="zh-CN" altLang="en-US" sz="2400" dirty="0" smtClean="0"/>
              <a:t>起来。</a:t>
            </a:r>
            <a:endParaRPr lang="zh-CN" altLang="en-US" sz="2400" dirty="0"/>
          </a:p>
          <a:p>
            <a:r>
              <a:rPr lang="zh-CN" altLang="en-US" sz="2400" dirty="0"/>
              <a:t>春天的天气变化最为反复无常，使人出现种种不适症状，患上种种疾病，因此，春天也是“百草发芽，百病发作”的</a:t>
            </a:r>
            <a:r>
              <a:rPr lang="zh-CN" altLang="en-US" sz="2400" dirty="0" smtClean="0"/>
              <a:t>季节，所以春季</a:t>
            </a:r>
            <a:r>
              <a:rPr lang="zh-CN" altLang="en-US" sz="2400" dirty="0"/>
              <a:t>您亦应特别重视养生保健。</a:t>
            </a:r>
          </a:p>
        </p:txBody>
      </p:sp>
    </p:spTree>
    <p:custDataLst>
      <p:tags r:id="rId1"/>
    </p:custData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养生特点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 smtClean="0"/>
              <a:t>春季</a:t>
            </a:r>
            <a:r>
              <a:rPr lang="zh-CN" altLang="en-US" dirty="0"/>
              <a:t>，气温</a:t>
            </a:r>
            <a:r>
              <a:rPr lang="zh-CN" altLang="en-US" dirty="0" smtClean="0"/>
              <a:t>开始回升，雨量逐步增大，</a:t>
            </a:r>
            <a:r>
              <a:rPr lang="zh-CN" altLang="en-US" dirty="0"/>
              <a:t>空气湿度</a:t>
            </a:r>
            <a:r>
              <a:rPr lang="zh-CN" altLang="en-US" dirty="0" smtClean="0"/>
              <a:t>相对较高，</a:t>
            </a:r>
            <a:r>
              <a:rPr lang="zh-CN" altLang="en-US" dirty="0"/>
              <a:t>气候偏</a:t>
            </a:r>
            <a:r>
              <a:rPr lang="zh-CN" altLang="en-US" dirty="0" smtClean="0"/>
              <a:t>于湿润。</a:t>
            </a:r>
            <a:endParaRPr lang="zh-CN" altLang="en-US" dirty="0"/>
          </a:p>
          <a:p>
            <a:r>
              <a:rPr lang="zh-CN" altLang="en-US" dirty="0"/>
              <a:t>中医学认为</a:t>
            </a:r>
            <a:r>
              <a:rPr lang="zh-CN" altLang="en-US" dirty="0" smtClean="0"/>
              <a:t>：春天对应人体的肝。肝脏与草木对比相似，草木在春季萌发生长，肝脏也喜欢生发，在春季功能比较活跃。要注意控制情绪调整心情，生活规律不要熬夜保证睡眠。</a:t>
            </a: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39" y="1684199"/>
            <a:ext cx="3036071" cy="3926164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8" presetClass="emph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Rot by="-43200000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鱼类推荐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243577"/>
              </p:ext>
            </p:extLst>
          </p:nvPr>
        </p:nvGraphicFramePr>
        <p:xfrm>
          <a:off x="876000" y="1270401"/>
          <a:ext cx="10440000" cy="4611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174072429"/>
                    </a:ext>
                  </a:extLst>
                </a:gridCol>
                <a:gridCol w="9360000">
                  <a:extLst>
                    <a:ext uri="{9D8B030D-6E8A-4147-A177-3AD203B41FA5}">
                      <a16:colId xmlns:a16="http://schemas.microsoft.com/office/drawing/2014/main" val="2796267343"/>
                    </a:ext>
                  </a:extLst>
                </a:gridCol>
              </a:tblGrid>
              <a:tr h="405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鱼名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功效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471124"/>
                  </a:ext>
                </a:extLst>
              </a:tr>
              <a:tr h="699916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鲫鱼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味甘性温，功效为利水消肿、益气健脾、通脉下乳，清热解毒等，主治浮肿腹水、产妇乳少、胃下垂、脱肛等症。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135409"/>
                  </a:ext>
                </a:extLst>
              </a:tr>
              <a:tr h="699916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带鱼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可补五脏、祛风，对脾胃虚弱、消化不良、皮肤干燥者尤为适宜；常吃带鱼还可滋润肌肤，保持皮肤的润湿与弹性。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122932"/>
                  </a:ext>
                </a:extLst>
              </a:tr>
              <a:tr h="699916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青鱼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有补气养胃、化湿利水等功效；食用可治疗气虚乏力、胃寒冷痛、湿痹、疟疾等症。青鱼所含锌、硒、铁等微量元素，还有防癌抗癌作用。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837125"/>
                  </a:ext>
                </a:extLst>
              </a:tr>
              <a:tr h="405507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鲤鱼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味甘性温，有利尿消肿、益气健脾、通脉下乳之功效。主治浮肿、乳汁不通、胎气不长等症。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147371"/>
                  </a:ext>
                </a:extLst>
              </a:tr>
              <a:tr h="699916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草鱼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味甘性温，有平肝、祛风、活痹之功效。古人认为，鲩鱼肉厚而松，治虚劳及风虚头痛，以其头蒸食尤良。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130035"/>
                  </a:ext>
                </a:extLst>
              </a:tr>
              <a:tr h="699916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泥鳅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味甘性平，有暖中益气、清利小便、解毒收痔之功效。泥鳅肉质细嫩，营养价值很高，其滑涎有抗菌消炎的作用。可治湿热黄疸、小便不利、病后盗汗等症。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7333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养生方法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起居养生：春季乍暖还寒，气候多变，要保暖防寒，不使阳气受遏</a:t>
            </a:r>
            <a:r>
              <a:rPr lang="zh-CN" altLang="en-US" dirty="0" smtClean="0"/>
              <a:t>。注意早睡早起，保持</a:t>
            </a:r>
            <a:r>
              <a:rPr lang="zh-CN" altLang="en-US" dirty="0"/>
              <a:t>内心宁静，情绪乐观，舒畅胸怀，抛开一切烦恼，避免悲伤情绪，</a:t>
            </a:r>
            <a:r>
              <a:rPr lang="zh-CN" altLang="en-US" dirty="0" smtClean="0"/>
              <a:t>是春季养肝的</a:t>
            </a:r>
            <a:r>
              <a:rPr lang="zh-CN" altLang="en-US" dirty="0"/>
              <a:t>一个好方法。</a:t>
            </a:r>
          </a:p>
          <a:p>
            <a:r>
              <a:rPr lang="zh-CN" altLang="en-US" dirty="0"/>
              <a:t>饮食养生：宜多</a:t>
            </a:r>
            <a:r>
              <a:rPr lang="zh-CN" altLang="en-US" dirty="0" smtClean="0"/>
              <a:t>吃温补阳气的食物</a:t>
            </a:r>
            <a:r>
              <a:rPr lang="zh-CN" altLang="en-US" dirty="0"/>
              <a:t>，</a:t>
            </a:r>
            <a:r>
              <a:rPr lang="zh-CN" altLang="en-US" dirty="0" smtClean="0"/>
              <a:t>如菠菜、芹菜、莴笋等；可食用辛辣</a:t>
            </a:r>
            <a:r>
              <a:rPr lang="zh-CN" altLang="en-US" dirty="0"/>
              <a:t>食物，如葱</a:t>
            </a:r>
            <a:r>
              <a:rPr lang="zh-CN" altLang="en-US" dirty="0" smtClean="0"/>
              <a:t>、蒜等。春天是万物出发之季，一般无须进补，不妨</a:t>
            </a:r>
            <a:r>
              <a:rPr lang="zh-CN" altLang="en-US" dirty="0"/>
              <a:t>吃点鱼肉，鱼肉脂肪含量低，其中的脂肪酸被证实有降糖、护心和防癌的作用。</a:t>
            </a:r>
          </a:p>
        </p:txBody>
      </p:sp>
    </p:spTree>
    <p:custDataLst>
      <p:tags r:id="rId1"/>
    </p:custData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 smtClean="0"/>
              <a:t>养肝为</a:t>
            </a:r>
            <a:r>
              <a:rPr lang="zh-CN" altLang="en-US" dirty="0"/>
              <a:t>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春季正是</a:t>
            </a:r>
            <a:r>
              <a:rPr lang="zh-CN" altLang="en-US" dirty="0"/>
              <a:t>采纳自然之气养阳的好时机，而“动”为养阳最重要一环。如散步、慢跑、做操、打球</a:t>
            </a:r>
            <a:r>
              <a:rPr lang="zh-CN" altLang="en-US" dirty="0" smtClean="0"/>
              <a:t>等。</a:t>
            </a:r>
            <a:r>
              <a:rPr lang="zh-CN" altLang="en-US" dirty="0"/>
              <a:t>不仅能畅达心胸、怡情养性，而且还能使气血通畅、郁滞疏散，提高心肺功能，强体防病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zh-CN" altLang="en-US" dirty="0"/>
              <a:t>春夏养阳，秋冬养阴”。五行学说中，肝属木，与春相应，主升发，喜畅达疏泄而恶抑郁。所以，养肝首要一条是调理情志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中医</a:t>
            </a:r>
            <a:r>
              <a:rPr lang="zh-CN" altLang="en-US" dirty="0"/>
              <a:t>认为，脾胃是后天之本，人体气血化生之源，脾胃之气健壮，人可延年益寿。而春天是肝旺之时，多食酸性食物会使肝火偏亢，损伤脾胃。应多吃一些性味甘平，且富含蛋白质、维生素和矿物质的食物，如瘦肉、禽蛋、牛奶、蜂蜜、豆制品、新鲜蔬菜、水果等，有利于发寒散邪，扶助阳气。</a:t>
            </a:r>
          </a:p>
        </p:txBody>
      </p:sp>
    </p:spTree>
    <p:custDataLst>
      <p:tags r:id="rId1"/>
    </p:custData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26175" y="2880000"/>
            <a:ext cx="4339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75057" dist="38100" dir="5400000" sy="-20000" rotWithShape="0">
                    <a:prstClr val="black">
                      <a:alpha val="25000"/>
                    </a:prstClr>
                  </a:outerShdw>
                </a:effectLst>
              </a:rPr>
              <a:t>祝身体安康！</a:t>
            </a:r>
            <a:endParaRPr lang="zh-CN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75057" dist="38100" dir="5400000" sy="-20000" rotWithShape="0">
                  <a:prstClr val="black">
                    <a:alpha val="25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9627115"/>
      </p:ext>
    </p:extLst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养生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养生" id="{93E7CF0C-A7BF-4F43-BF8E-ABDC2B66B6A2}" vid="{41A4F02B-82C1-4210-AED1-C4381A53EA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养生</Template>
  <TotalTime>117</TotalTime>
  <Words>755</Words>
  <Application>Microsoft Office PowerPoint</Application>
  <PresentationFormat>宽屏</PresentationFormat>
  <Paragraphs>32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黑体</vt:lpstr>
      <vt:lpstr>微软雅黑</vt:lpstr>
      <vt:lpstr>Arial</vt:lpstr>
      <vt:lpstr>Wingdings</vt:lpstr>
      <vt:lpstr>养生</vt:lpstr>
      <vt:lpstr>中医养生保健</vt:lpstr>
      <vt:lpstr>春季养生</vt:lpstr>
      <vt:lpstr>养生特点</vt:lpstr>
      <vt:lpstr>鱼类推荐</vt:lpstr>
      <vt:lpstr>养生方法</vt:lpstr>
      <vt:lpstr>养肝为要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小西</cp:lastModifiedBy>
  <cp:revision>185</cp:revision>
  <dcterms:created xsi:type="dcterms:W3CDTF">2019-06-19T02:08:00Z</dcterms:created>
  <dcterms:modified xsi:type="dcterms:W3CDTF">2022-10-27T02:38:20Z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