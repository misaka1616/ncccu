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custShowLst>
    <p:custShow name="放映方案1" id="0">
      <p:sldLst>
        <p:sld r:id="rId4"/>
        <p:sld r:id="rId5"/>
        <p:sld r:id="rId6"/>
        <p:sld r:id="rId7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slide" Target="../slides/slide5.xml"/><Relationship Id="rId1" Type="http://schemas.openxmlformats.org/officeDocument/2006/relationships/slide" Target="../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7A0374-C335-4732-8844-7AC19C4E9E50}" type="doc">
      <dgm:prSet loTypeId="urn:microsoft.com/office/officeart/2008/layout/VerticalCurvedList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8EC9ADC7-ED8D-408F-BB59-BE4D4FDD2D91}">
      <dgm:prSet/>
      <dgm:spPr/>
      <dgm:t>
        <a:bodyPr/>
        <a:lstStyle/>
        <a:p>
          <a:pPr rtl="0"/>
          <a:r>
            <a:rPr lang="zh-CN" smtClean="0"/>
            <a:t>植物特征</a:t>
          </a:r>
          <a:endParaRPr lang="zh-CN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54BD8D42-468F-4973-B066-0C0C02DF1D43}" type="parTrans" cxnId="{5607A145-D0E7-4711-9141-4D3BA533F990}">
      <dgm:prSet/>
      <dgm:spPr/>
      <dgm:t>
        <a:bodyPr/>
        <a:lstStyle/>
        <a:p>
          <a:endParaRPr lang="zh-CN" altLang="en-US"/>
        </a:p>
      </dgm:t>
    </dgm:pt>
    <dgm:pt modelId="{8EC3BE65-1F15-4BCB-A294-44337B6ABD43}" type="sibTrans" cxnId="{5607A145-D0E7-4711-9141-4D3BA533F990}">
      <dgm:prSet/>
      <dgm:spPr/>
      <dgm:t>
        <a:bodyPr/>
        <a:lstStyle/>
        <a:p>
          <a:endParaRPr lang="zh-CN" altLang="en-US"/>
        </a:p>
      </dgm:t>
    </dgm:pt>
    <dgm:pt modelId="{C15F2EB0-E905-4AE8-BD35-2221AE1B7B0A}">
      <dgm:prSet/>
      <dgm:spPr/>
      <dgm:t>
        <a:bodyPr/>
        <a:lstStyle/>
        <a:p>
          <a:pPr rtl="0"/>
          <a:r>
            <a:rPr lang="zh-CN" dirty="0" smtClean="0"/>
            <a:t>主要价值</a:t>
          </a:r>
          <a:endParaRPr lang="zh-CN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6B6492E5-5AB3-4DA0-98B7-7725F6469CD1}" type="parTrans" cxnId="{7315D033-12A6-4727-925A-7074DD89E8C5}">
      <dgm:prSet/>
      <dgm:spPr/>
      <dgm:t>
        <a:bodyPr/>
        <a:lstStyle/>
        <a:p>
          <a:endParaRPr lang="zh-CN" altLang="en-US"/>
        </a:p>
      </dgm:t>
    </dgm:pt>
    <dgm:pt modelId="{92BCAF7D-5C9D-4FA8-A855-AEA1F4AB5583}" type="sibTrans" cxnId="{7315D033-12A6-4727-925A-7074DD89E8C5}">
      <dgm:prSet/>
      <dgm:spPr/>
      <dgm:t>
        <a:bodyPr/>
        <a:lstStyle/>
        <a:p>
          <a:endParaRPr lang="zh-CN" altLang="en-US"/>
        </a:p>
      </dgm:t>
    </dgm:pt>
    <dgm:pt modelId="{4CD34F50-6EBD-4349-BA80-64A54475A68E}">
      <dgm:prSet/>
      <dgm:spPr/>
      <dgm:t>
        <a:bodyPr/>
        <a:lstStyle/>
        <a:p>
          <a:pPr rtl="0"/>
          <a:r>
            <a:rPr lang="zh-CN" smtClean="0"/>
            <a:t>生长习性</a:t>
          </a:r>
          <a:endParaRPr lang="zh-CN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D0DADBB5-7C16-45E8-9BF8-0F317B59F078}" type="parTrans" cxnId="{C1DD65AA-91C4-4616-8297-E58A70B79A46}">
      <dgm:prSet/>
      <dgm:spPr/>
      <dgm:t>
        <a:bodyPr/>
        <a:lstStyle/>
        <a:p>
          <a:endParaRPr lang="zh-CN" altLang="en-US"/>
        </a:p>
      </dgm:t>
    </dgm:pt>
    <dgm:pt modelId="{627C8234-6A7B-457A-B1CC-93E6C98024C6}" type="sibTrans" cxnId="{C1DD65AA-91C4-4616-8297-E58A70B79A46}">
      <dgm:prSet/>
      <dgm:spPr/>
      <dgm:t>
        <a:bodyPr/>
        <a:lstStyle/>
        <a:p>
          <a:endParaRPr lang="zh-CN" altLang="en-US"/>
        </a:p>
      </dgm:t>
    </dgm:pt>
    <dgm:pt modelId="{BC3C52C7-31E7-4E11-9918-043BFF75F806}" type="pres">
      <dgm:prSet presAssocID="{E97A0374-C335-4732-8844-7AC19C4E9E50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C5A3B82D-98FD-4928-9441-3ACBDE474282}" type="pres">
      <dgm:prSet presAssocID="{E97A0374-C335-4732-8844-7AC19C4E9E50}" presName="Name1" presStyleCnt="0"/>
      <dgm:spPr/>
    </dgm:pt>
    <dgm:pt modelId="{15F6E073-1AAA-44B3-BC48-3F3C04846CE4}" type="pres">
      <dgm:prSet presAssocID="{E97A0374-C335-4732-8844-7AC19C4E9E50}" presName="cycle" presStyleCnt="0"/>
      <dgm:spPr/>
    </dgm:pt>
    <dgm:pt modelId="{12272F2B-0D2E-4D1E-AAF6-796E2B8EB7C7}" type="pres">
      <dgm:prSet presAssocID="{E97A0374-C335-4732-8844-7AC19C4E9E50}" presName="srcNode" presStyleLbl="node1" presStyleIdx="0" presStyleCnt="3"/>
      <dgm:spPr/>
    </dgm:pt>
    <dgm:pt modelId="{1AF26DE6-19B8-42A2-BEF9-A611758B36EF}" type="pres">
      <dgm:prSet presAssocID="{E97A0374-C335-4732-8844-7AC19C4E9E50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E5869CE9-74D9-46E2-89C1-77AC222B4E59}" type="pres">
      <dgm:prSet presAssocID="{E97A0374-C335-4732-8844-7AC19C4E9E50}" presName="extraNode" presStyleLbl="node1" presStyleIdx="0" presStyleCnt="3"/>
      <dgm:spPr/>
    </dgm:pt>
    <dgm:pt modelId="{0B71962D-12CE-483C-AA93-BE165DCAADF5}" type="pres">
      <dgm:prSet presAssocID="{E97A0374-C335-4732-8844-7AC19C4E9E50}" presName="dstNode" presStyleLbl="node1" presStyleIdx="0" presStyleCnt="3"/>
      <dgm:spPr/>
    </dgm:pt>
    <dgm:pt modelId="{8630DB5A-1350-426E-9D44-3E6DC6FFAE1F}" type="pres">
      <dgm:prSet presAssocID="{8EC9ADC7-ED8D-408F-BB59-BE4D4FDD2D91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304A78B-B75B-4503-8ADA-8C34F0354881}" type="pres">
      <dgm:prSet presAssocID="{8EC9ADC7-ED8D-408F-BB59-BE4D4FDD2D91}" presName="accent_1" presStyleCnt="0"/>
      <dgm:spPr/>
    </dgm:pt>
    <dgm:pt modelId="{7D4B1009-5C64-4A61-AFDE-CC6833B0F9BC}" type="pres">
      <dgm:prSet presAssocID="{8EC9ADC7-ED8D-408F-BB59-BE4D4FDD2D91}" presName="accentRepeatNode" presStyleLbl="solidFgAcc1" presStyleIdx="0" presStyleCnt="3"/>
      <dgm:spPr/>
    </dgm:pt>
    <dgm:pt modelId="{5034BE43-2CBC-4A4F-8C87-A926D3B9C933}" type="pres">
      <dgm:prSet presAssocID="{C15F2EB0-E905-4AE8-BD35-2221AE1B7B0A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4425FD3-51A7-4640-804E-C47447D83202}" type="pres">
      <dgm:prSet presAssocID="{C15F2EB0-E905-4AE8-BD35-2221AE1B7B0A}" presName="accent_2" presStyleCnt="0"/>
      <dgm:spPr/>
    </dgm:pt>
    <dgm:pt modelId="{EDC2F6FF-2189-4C34-9FE7-EBEC66B0E415}" type="pres">
      <dgm:prSet presAssocID="{C15F2EB0-E905-4AE8-BD35-2221AE1B7B0A}" presName="accentRepeatNode" presStyleLbl="solidFgAcc1" presStyleIdx="1" presStyleCnt="3"/>
      <dgm:spPr/>
    </dgm:pt>
    <dgm:pt modelId="{8FF5442C-D74E-4311-9B0F-C2166FDA0806}" type="pres">
      <dgm:prSet presAssocID="{4CD34F50-6EBD-4349-BA80-64A54475A68E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AF22172-83E3-4CB7-99F1-0494D12D67F6}" type="pres">
      <dgm:prSet presAssocID="{4CD34F50-6EBD-4349-BA80-64A54475A68E}" presName="accent_3" presStyleCnt="0"/>
      <dgm:spPr/>
    </dgm:pt>
    <dgm:pt modelId="{6B3CECA0-7534-4F72-BE31-86ED6AB013DC}" type="pres">
      <dgm:prSet presAssocID="{4CD34F50-6EBD-4349-BA80-64A54475A68E}" presName="accentRepeatNode" presStyleLbl="solidFgAcc1" presStyleIdx="2" presStyleCnt="3"/>
      <dgm:spPr/>
    </dgm:pt>
  </dgm:ptLst>
  <dgm:cxnLst>
    <dgm:cxn modelId="{7315D033-12A6-4727-925A-7074DD89E8C5}" srcId="{E97A0374-C335-4732-8844-7AC19C4E9E50}" destId="{C15F2EB0-E905-4AE8-BD35-2221AE1B7B0A}" srcOrd="1" destOrd="0" parTransId="{6B6492E5-5AB3-4DA0-98B7-7725F6469CD1}" sibTransId="{92BCAF7D-5C9D-4FA8-A855-AEA1F4AB5583}"/>
    <dgm:cxn modelId="{B47CF9A4-CA7D-4CD9-85F7-A47A886C0329}" type="presOf" srcId="{C15F2EB0-E905-4AE8-BD35-2221AE1B7B0A}" destId="{5034BE43-2CBC-4A4F-8C87-A926D3B9C933}" srcOrd="0" destOrd="0" presId="urn:microsoft.com/office/officeart/2008/layout/VerticalCurvedList"/>
    <dgm:cxn modelId="{6AE74BB1-A38D-4599-BFDC-828363233571}" type="presOf" srcId="{8EC9ADC7-ED8D-408F-BB59-BE4D4FDD2D91}" destId="{8630DB5A-1350-426E-9D44-3E6DC6FFAE1F}" srcOrd="0" destOrd="0" presId="urn:microsoft.com/office/officeart/2008/layout/VerticalCurvedList"/>
    <dgm:cxn modelId="{DEE11A37-09C2-4BED-988B-2C929D85B056}" type="presOf" srcId="{4CD34F50-6EBD-4349-BA80-64A54475A68E}" destId="{8FF5442C-D74E-4311-9B0F-C2166FDA0806}" srcOrd="0" destOrd="0" presId="urn:microsoft.com/office/officeart/2008/layout/VerticalCurvedList"/>
    <dgm:cxn modelId="{2D2A8A47-EF86-42A1-9568-28134DC2B25D}" type="presOf" srcId="{8EC3BE65-1F15-4BCB-A294-44337B6ABD43}" destId="{1AF26DE6-19B8-42A2-BEF9-A611758B36EF}" srcOrd="0" destOrd="0" presId="urn:microsoft.com/office/officeart/2008/layout/VerticalCurvedList"/>
    <dgm:cxn modelId="{5607A145-D0E7-4711-9141-4D3BA533F990}" srcId="{E97A0374-C335-4732-8844-7AC19C4E9E50}" destId="{8EC9ADC7-ED8D-408F-BB59-BE4D4FDD2D91}" srcOrd="0" destOrd="0" parTransId="{54BD8D42-468F-4973-B066-0C0C02DF1D43}" sibTransId="{8EC3BE65-1F15-4BCB-A294-44337B6ABD43}"/>
    <dgm:cxn modelId="{CEACA67B-7D64-4CDE-836C-8613FB475183}" type="presOf" srcId="{E97A0374-C335-4732-8844-7AC19C4E9E50}" destId="{BC3C52C7-31E7-4E11-9918-043BFF75F806}" srcOrd="0" destOrd="0" presId="urn:microsoft.com/office/officeart/2008/layout/VerticalCurvedList"/>
    <dgm:cxn modelId="{C1DD65AA-91C4-4616-8297-E58A70B79A46}" srcId="{E97A0374-C335-4732-8844-7AC19C4E9E50}" destId="{4CD34F50-6EBD-4349-BA80-64A54475A68E}" srcOrd="2" destOrd="0" parTransId="{D0DADBB5-7C16-45E8-9BF8-0F317B59F078}" sibTransId="{627C8234-6A7B-457A-B1CC-93E6C98024C6}"/>
    <dgm:cxn modelId="{C647B4EC-C362-42ED-83FF-695B7D033ABF}" type="presParOf" srcId="{BC3C52C7-31E7-4E11-9918-043BFF75F806}" destId="{C5A3B82D-98FD-4928-9441-3ACBDE474282}" srcOrd="0" destOrd="0" presId="urn:microsoft.com/office/officeart/2008/layout/VerticalCurvedList"/>
    <dgm:cxn modelId="{4213DEA2-7C38-428C-B5FC-599AD6995AE4}" type="presParOf" srcId="{C5A3B82D-98FD-4928-9441-3ACBDE474282}" destId="{15F6E073-1AAA-44B3-BC48-3F3C04846CE4}" srcOrd="0" destOrd="0" presId="urn:microsoft.com/office/officeart/2008/layout/VerticalCurvedList"/>
    <dgm:cxn modelId="{4D332F2E-E792-4782-B665-02506139BF57}" type="presParOf" srcId="{15F6E073-1AAA-44B3-BC48-3F3C04846CE4}" destId="{12272F2B-0D2E-4D1E-AAF6-796E2B8EB7C7}" srcOrd="0" destOrd="0" presId="urn:microsoft.com/office/officeart/2008/layout/VerticalCurvedList"/>
    <dgm:cxn modelId="{34742321-4AB9-4A09-889D-81AE51C5F5B4}" type="presParOf" srcId="{15F6E073-1AAA-44B3-BC48-3F3C04846CE4}" destId="{1AF26DE6-19B8-42A2-BEF9-A611758B36EF}" srcOrd="1" destOrd="0" presId="urn:microsoft.com/office/officeart/2008/layout/VerticalCurvedList"/>
    <dgm:cxn modelId="{2353FBA0-EA93-4C77-8917-1919C6B694C5}" type="presParOf" srcId="{15F6E073-1AAA-44B3-BC48-3F3C04846CE4}" destId="{E5869CE9-74D9-46E2-89C1-77AC222B4E59}" srcOrd="2" destOrd="0" presId="urn:microsoft.com/office/officeart/2008/layout/VerticalCurvedList"/>
    <dgm:cxn modelId="{1CE4CE1F-1E06-4FAC-82EA-EB31870E6747}" type="presParOf" srcId="{15F6E073-1AAA-44B3-BC48-3F3C04846CE4}" destId="{0B71962D-12CE-483C-AA93-BE165DCAADF5}" srcOrd="3" destOrd="0" presId="urn:microsoft.com/office/officeart/2008/layout/VerticalCurvedList"/>
    <dgm:cxn modelId="{FE555AC2-F508-4C9E-82FE-4515A775F1C0}" type="presParOf" srcId="{C5A3B82D-98FD-4928-9441-3ACBDE474282}" destId="{8630DB5A-1350-426E-9D44-3E6DC6FFAE1F}" srcOrd="1" destOrd="0" presId="urn:microsoft.com/office/officeart/2008/layout/VerticalCurvedList"/>
    <dgm:cxn modelId="{A276A3BF-B36C-4F7C-B4E5-4F8B87C9E42F}" type="presParOf" srcId="{C5A3B82D-98FD-4928-9441-3ACBDE474282}" destId="{A304A78B-B75B-4503-8ADA-8C34F0354881}" srcOrd="2" destOrd="0" presId="urn:microsoft.com/office/officeart/2008/layout/VerticalCurvedList"/>
    <dgm:cxn modelId="{3937EC90-5BBF-4081-A83D-2D128C9EBBC0}" type="presParOf" srcId="{A304A78B-B75B-4503-8ADA-8C34F0354881}" destId="{7D4B1009-5C64-4A61-AFDE-CC6833B0F9BC}" srcOrd="0" destOrd="0" presId="urn:microsoft.com/office/officeart/2008/layout/VerticalCurvedList"/>
    <dgm:cxn modelId="{E432728C-CE02-4EBC-9B05-A5A8ABBA2FE4}" type="presParOf" srcId="{C5A3B82D-98FD-4928-9441-3ACBDE474282}" destId="{5034BE43-2CBC-4A4F-8C87-A926D3B9C933}" srcOrd="3" destOrd="0" presId="urn:microsoft.com/office/officeart/2008/layout/VerticalCurvedList"/>
    <dgm:cxn modelId="{1A16AB5D-0B7F-478C-93DD-CA1622AA5B50}" type="presParOf" srcId="{C5A3B82D-98FD-4928-9441-3ACBDE474282}" destId="{54425FD3-51A7-4640-804E-C47447D83202}" srcOrd="4" destOrd="0" presId="urn:microsoft.com/office/officeart/2008/layout/VerticalCurvedList"/>
    <dgm:cxn modelId="{55606963-4E3A-403A-B23A-845C906DB80B}" type="presParOf" srcId="{54425FD3-51A7-4640-804E-C47447D83202}" destId="{EDC2F6FF-2189-4C34-9FE7-EBEC66B0E415}" srcOrd="0" destOrd="0" presId="urn:microsoft.com/office/officeart/2008/layout/VerticalCurvedList"/>
    <dgm:cxn modelId="{D83711F1-2D0B-4AFB-BA17-50532A7F4848}" type="presParOf" srcId="{C5A3B82D-98FD-4928-9441-3ACBDE474282}" destId="{8FF5442C-D74E-4311-9B0F-C2166FDA0806}" srcOrd="5" destOrd="0" presId="urn:microsoft.com/office/officeart/2008/layout/VerticalCurvedList"/>
    <dgm:cxn modelId="{149EE0C0-F44B-4C94-BEB4-E650E515D806}" type="presParOf" srcId="{C5A3B82D-98FD-4928-9441-3ACBDE474282}" destId="{0AF22172-83E3-4CB7-99F1-0494D12D67F6}" srcOrd="6" destOrd="0" presId="urn:microsoft.com/office/officeart/2008/layout/VerticalCurvedList"/>
    <dgm:cxn modelId="{B29776B0-A00F-4ADA-B434-16F6CBCA19AF}" type="presParOf" srcId="{0AF22172-83E3-4CB7-99F1-0494D12D67F6}" destId="{6B3CECA0-7534-4F72-BE31-86ED6AB013D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F26DE6-19B8-42A2-BEF9-A611758B36EF}">
      <dsp:nvSpPr>
        <dsp:cNvPr id="0" name=""/>
        <dsp:cNvSpPr/>
      </dsp:nvSpPr>
      <dsp:spPr>
        <a:xfrm>
          <a:off x="-4565598" y="-700039"/>
          <a:ext cx="5438678" cy="5438678"/>
        </a:xfrm>
        <a:prstGeom prst="blockArc">
          <a:avLst>
            <a:gd name="adj1" fmla="val 18900000"/>
            <a:gd name="adj2" fmla="val 2700000"/>
            <a:gd name="adj3" fmla="val 397"/>
          </a:avLst>
        </a:pr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30DB5A-1350-426E-9D44-3E6DC6FFAE1F}">
      <dsp:nvSpPr>
        <dsp:cNvPr id="0" name=""/>
        <dsp:cNvSpPr/>
      </dsp:nvSpPr>
      <dsp:spPr>
        <a:xfrm>
          <a:off x="561504" y="403860"/>
          <a:ext cx="9256580" cy="8077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1128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kern="1200" smtClean="0"/>
            <a:t>植物特征</a:t>
          </a:r>
          <a:endParaRPr lang="zh-CN" altLang="en-US" sz="4000" kern="1200"/>
        </a:p>
      </dsp:txBody>
      <dsp:txXfrm>
        <a:off x="561504" y="403860"/>
        <a:ext cx="9256580" cy="807720"/>
      </dsp:txXfrm>
    </dsp:sp>
    <dsp:sp modelId="{7D4B1009-5C64-4A61-AFDE-CC6833B0F9BC}">
      <dsp:nvSpPr>
        <dsp:cNvPr id="0" name=""/>
        <dsp:cNvSpPr/>
      </dsp:nvSpPr>
      <dsp:spPr>
        <a:xfrm>
          <a:off x="56679" y="302895"/>
          <a:ext cx="1009650" cy="10096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34BE43-2CBC-4A4F-8C87-A926D3B9C933}">
      <dsp:nvSpPr>
        <dsp:cNvPr id="0" name=""/>
        <dsp:cNvSpPr/>
      </dsp:nvSpPr>
      <dsp:spPr>
        <a:xfrm>
          <a:off x="855111" y="1615440"/>
          <a:ext cx="8962974" cy="80772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1128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kern="1200" dirty="0" smtClean="0"/>
            <a:t>主要价值</a:t>
          </a:r>
          <a:endParaRPr lang="zh-CN" altLang="en-US" sz="4000" kern="1200" dirty="0"/>
        </a:p>
      </dsp:txBody>
      <dsp:txXfrm>
        <a:off x="855111" y="1615440"/>
        <a:ext cx="8962974" cy="807720"/>
      </dsp:txXfrm>
    </dsp:sp>
    <dsp:sp modelId="{EDC2F6FF-2189-4C34-9FE7-EBEC66B0E415}">
      <dsp:nvSpPr>
        <dsp:cNvPr id="0" name=""/>
        <dsp:cNvSpPr/>
      </dsp:nvSpPr>
      <dsp:spPr>
        <a:xfrm>
          <a:off x="350286" y="1514475"/>
          <a:ext cx="1009650" cy="10096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F5442C-D74E-4311-9B0F-C2166FDA0806}">
      <dsp:nvSpPr>
        <dsp:cNvPr id="0" name=""/>
        <dsp:cNvSpPr/>
      </dsp:nvSpPr>
      <dsp:spPr>
        <a:xfrm>
          <a:off x="561504" y="2827020"/>
          <a:ext cx="9256580" cy="8077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1128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kern="1200" smtClean="0"/>
            <a:t>生长习性</a:t>
          </a:r>
          <a:endParaRPr lang="zh-CN" altLang="en-US" sz="4000" kern="1200"/>
        </a:p>
      </dsp:txBody>
      <dsp:txXfrm>
        <a:off x="561504" y="2827020"/>
        <a:ext cx="9256580" cy="807720"/>
      </dsp:txXfrm>
    </dsp:sp>
    <dsp:sp modelId="{6B3CECA0-7534-4F72-BE31-86ED6AB013DC}">
      <dsp:nvSpPr>
        <dsp:cNvPr id="0" name=""/>
        <dsp:cNvSpPr/>
      </dsp:nvSpPr>
      <dsp:spPr>
        <a:xfrm>
          <a:off x="56679" y="2726055"/>
          <a:ext cx="1009650" cy="10096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7E14CC-014D-49B9-9796-EEABECF2313B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027FD-216A-422F-BFE2-154156F817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886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839233A-AE69-43E4-9EAC-8363C3A17DBE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620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3FCA-C471-4EDF-9913-C2A112A2E432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084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FDFC-B4AC-4B5E-A11D-9ADD9ECF032F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817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97C8F-443A-44B6-9D8B-BCF017E0947D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884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D6E8B-CF04-4330-9930-65C9B52BF53D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837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D7E7-F177-48A2-B58F-3F7C91C0AB0B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571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5702-51DD-4327-BFC8-6F8D39D689F4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32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FEC6E-1DE7-4E12-96C6-C1D99258D0ED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67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913A6-E2F7-446E-A1CC-11A1D7800F27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236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B6FF-FD2C-45B2-945F-2E5C9F581B5B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865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270A-A416-402F-83CC-A9C77273F663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67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1B5A0BE-59AE-4B2C-9935-28931756AA6B}" type="datetime1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771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9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9600" cap="none" spc="300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海棠</a:t>
            </a:r>
            <a:endParaRPr lang="zh-CN" altLang="en-US" sz="9600" cap="none" spc="300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65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概述</a:t>
            </a:r>
            <a:endParaRPr lang="zh-CN" altLang="en-US" b="1" dirty="0"/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0" r="10130"/>
          <a:stretch>
            <a:fillRect/>
          </a:stretch>
        </p:blipFill>
        <p:spPr>
          <a:xfrm>
            <a:off x="6480000" y="1728000"/>
            <a:ext cx="3658971" cy="2880000"/>
          </a:xfrm>
          <a:prstGeom prst="round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3" name="内容占位符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海棠是观赏花木，多用于城市绿化，也是庭园绿化的观花树木。宜孤植于庭院前后，对植天门厅入口处，丛植于草坪角隅，或与其他花木相配植，也可矮化盆栽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028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flythrough dir="out" hasBounce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8" presetClass="emph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Rot by="-43200000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+mn-ea"/>
              </a:rPr>
              <a:t>提纲</a:t>
            </a:r>
            <a:endParaRPr lang="zh-CN" altLang="en-US" b="1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3903927"/>
              </p:ext>
            </p:extLst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88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植物特征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落叶灌木或乔木，最高可达</a:t>
            </a:r>
            <a:r>
              <a:rPr lang="en-US" altLang="zh-CN" sz="2000" dirty="0"/>
              <a:t>8</a:t>
            </a:r>
            <a:r>
              <a:rPr lang="zh-CN" altLang="en-US" sz="2000" dirty="0"/>
              <a:t>米。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叶片椭圆形至长椭圆形，长</a:t>
            </a:r>
            <a:r>
              <a:rPr lang="en-US" altLang="zh-CN" sz="2000" dirty="0"/>
              <a:t>5-8</a:t>
            </a:r>
            <a:r>
              <a:rPr lang="zh-CN" altLang="en-US" sz="2000" dirty="0"/>
              <a:t>厘米，宽</a:t>
            </a:r>
            <a:r>
              <a:rPr lang="en-US" altLang="zh-CN" sz="2000" dirty="0"/>
              <a:t>2-3</a:t>
            </a:r>
            <a:r>
              <a:rPr lang="zh-CN" altLang="en-US" sz="2000" dirty="0"/>
              <a:t>厘米，先端短渐尖或圆钝，基部宽楔形或近圆形。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花序近伞形，有花</a:t>
            </a:r>
            <a:r>
              <a:rPr lang="en-US" altLang="zh-CN" sz="2000" dirty="0"/>
              <a:t>4-6</a:t>
            </a:r>
            <a:r>
              <a:rPr lang="zh-CN" altLang="en-US" sz="2000" dirty="0"/>
              <a:t>朵，花梗长</a:t>
            </a:r>
            <a:r>
              <a:rPr lang="en-US" altLang="zh-CN" sz="2000" dirty="0"/>
              <a:t>2-3</a:t>
            </a:r>
            <a:r>
              <a:rPr lang="zh-CN" altLang="en-US" sz="2000" dirty="0"/>
              <a:t>厘米，具柔毛，花直径</a:t>
            </a:r>
            <a:r>
              <a:rPr lang="en-US" altLang="zh-CN" sz="2000" dirty="0"/>
              <a:t>4-5</a:t>
            </a:r>
            <a:r>
              <a:rPr lang="zh-CN" altLang="en-US" sz="2000" dirty="0"/>
              <a:t>厘米。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果实近球形，直径</a:t>
            </a:r>
            <a:r>
              <a:rPr lang="en-US" altLang="zh-CN" sz="2000" dirty="0"/>
              <a:t>2</a:t>
            </a:r>
            <a:r>
              <a:rPr lang="zh-CN" altLang="en-US" sz="2000" dirty="0"/>
              <a:t>厘米，萼片宿存，基部不下陷，梗洼隆起。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花期</a:t>
            </a:r>
            <a:r>
              <a:rPr lang="en-US" altLang="zh-CN" sz="2000" dirty="0"/>
              <a:t>4-5</a:t>
            </a:r>
            <a:r>
              <a:rPr lang="zh-CN" altLang="en-US" sz="2000" dirty="0"/>
              <a:t>月，果期</a:t>
            </a:r>
            <a:r>
              <a:rPr lang="en-US" altLang="zh-CN" sz="2000" dirty="0"/>
              <a:t>8-9</a:t>
            </a:r>
            <a:r>
              <a:rPr lang="zh-CN" altLang="en-US" sz="2000" dirty="0"/>
              <a:t>月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16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flythrough dir="out" hasBounce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主要价值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海棠种仁含油率</a:t>
            </a:r>
            <a:r>
              <a:rPr lang="en-US" altLang="zh-CN" sz="2000" dirty="0"/>
              <a:t>35.99</a:t>
            </a:r>
            <a:r>
              <a:rPr lang="en-US" altLang="zh-CN" sz="2000" dirty="0" smtClean="0"/>
              <a:t>%</a:t>
            </a:r>
            <a:r>
              <a:rPr lang="zh-CN" altLang="en-US" sz="2000" dirty="0"/>
              <a:t>，</a:t>
            </a:r>
            <a:r>
              <a:rPr lang="zh-CN" altLang="en-US" sz="2000" dirty="0" smtClean="0"/>
              <a:t>出</a:t>
            </a:r>
            <a:r>
              <a:rPr lang="zh-CN" altLang="en-US" sz="2000" dirty="0"/>
              <a:t>油率</a:t>
            </a:r>
            <a:r>
              <a:rPr lang="en-US" altLang="zh-CN" sz="2000" dirty="0"/>
              <a:t>30%</a:t>
            </a:r>
            <a:r>
              <a:rPr lang="zh-CN" altLang="en-US" sz="2000" dirty="0"/>
              <a:t>，无异味，可食用并可制作肥皂。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花可为糖制酱的作料，风味很美。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果实经蒸煮后可制作蜜饯，也可供药用，是药食兼用的食品。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树皮含鞣质，可提制栲胶。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木材质坚硬，可供床柱用。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60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生长习性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海棠喜欢凉爽、湿润、半阴的环境。对环境</a:t>
            </a:r>
            <a:r>
              <a:rPr lang="zh-CN" altLang="en-US" sz="2000" dirty="0" smtClean="0"/>
              <a:t>变化</a:t>
            </a:r>
            <a:r>
              <a:rPr lang="zh-CN" altLang="en-US" sz="2000" dirty="0"/>
              <a:t>，</a:t>
            </a:r>
            <a:r>
              <a:rPr lang="zh-CN" altLang="en-US" sz="2000" dirty="0" smtClean="0"/>
              <a:t>特别是</a:t>
            </a:r>
            <a:r>
              <a:rPr lang="zh-CN" altLang="en-US" sz="2000" dirty="0"/>
              <a:t>温度和光线的急剧变化十分</a:t>
            </a:r>
            <a:r>
              <a:rPr lang="zh-CN" altLang="en-US" sz="2000" dirty="0" smtClean="0"/>
              <a:t>敏感</a:t>
            </a:r>
            <a:r>
              <a:rPr lang="zh-CN" altLang="en-US" sz="2000" dirty="0"/>
              <a:t>，</a:t>
            </a:r>
            <a:r>
              <a:rPr lang="zh-CN" altLang="en-US" sz="2000" dirty="0" smtClean="0"/>
              <a:t>生长</a:t>
            </a:r>
            <a:r>
              <a:rPr lang="zh-CN" altLang="en-US" sz="2000" dirty="0"/>
              <a:t>的最适温度为</a:t>
            </a:r>
            <a:r>
              <a:rPr lang="en-US" altLang="zh-CN" sz="2000" dirty="0"/>
              <a:t>15</a:t>
            </a:r>
            <a:r>
              <a:rPr lang="zh-CN" altLang="en-US" sz="2000" dirty="0"/>
              <a:t>～</a:t>
            </a:r>
            <a:r>
              <a:rPr lang="en-US" altLang="zh-CN" sz="2000" dirty="0"/>
              <a:t>25</a:t>
            </a:r>
            <a:r>
              <a:rPr lang="en-US" altLang="zh-CN" sz="2000" dirty="0" smtClean="0"/>
              <a:t>℃</a:t>
            </a:r>
            <a:r>
              <a:rPr lang="zh-CN" altLang="en-US" sz="2000" dirty="0" smtClean="0"/>
              <a:t>，不</a:t>
            </a:r>
            <a:r>
              <a:rPr lang="zh-CN" altLang="en-US" sz="2000" dirty="0"/>
              <a:t>耐</a:t>
            </a:r>
            <a:r>
              <a:rPr lang="zh-CN" altLang="en-US" sz="2000" dirty="0" smtClean="0"/>
              <a:t>高温</a:t>
            </a:r>
            <a:r>
              <a:rPr lang="zh-CN" altLang="en-US" sz="2000" dirty="0"/>
              <a:t>，</a:t>
            </a:r>
            <a:r>
              <a:rPr lang="zh-CN" altLang="en-US" sz="2000" dirty="0" smtClean="0"/>
              <a:t>超过</a:t>
            </a:r>
            <a:r>
              <a:rPr lang="en-US" altLang="zh-CN" sz="2000" dirty="0"/>
              <a:t>30℃</a:t>
            </a:r>
            <a:r>
              <a:rPr lang="zh-CN" altLang="en-US" sz="2000" dirty="0"/>
              <a:t>茎叶</a:t>
            </a:r>
            <a:r>
              <a:rPr lang="zh-CN" altLang="en-US" sz="2000" dirty="0" smtClean="0"/>
              <a:t>枯萎、花蕾</a:t>
            </a:r>
            <a:r>
              <a:rPr lang="zh-CN" altLang="en-US" sz="2000" dirty="0"/>
              <a:t>脱落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59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flythrough dir="out" hasBounce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植物繁多</a:t>
            </a:r>
            <a:endParaRPr lang="zh-CN" altLang="en-US" b="1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3468998"/>
              </p:ext>
            </p:extLst>
          </p:nvPr>
        </p:nvGraphicFramePr>
        <p:xfrm>
          <a:off x="2066760" y="2114550"/>
          <a:ext cx="8028000" cy="288017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399919975"/>
                    </a:ext>
                  </a:extLst>
                </a:gridCol>
                <a:gridCol w="7020000">
                  <a:extLst>
                    <a:ext uri="{9D8B030D-6E8A-4147-A177-3AD203B41FA5}">
                      <a16:colId xmlns:a16="http://schemas.microsoft.com/office/drawing/2014/main" val="3177016046"/>
                    </a:ext>
                  </a:extLst>
                </a:gridCol>
              </a:tblGrid>
              <a:tr h="36558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名称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说明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9670279"/>
                  </a:ext>
                </a:extLst>
              </a:tr>
              <a:tr h="62860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海棠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海棠树种类很多，如垂丝海棠、西府海棠、沧江海棠、木瓜海棠等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801448"/>
                  </a:ext>
                </a:extLst>
              </a:tr>
              <a:tr h="62860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冬青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常见的冬青树种类有梅叶冬青、榕叶冬青、广东冬青、细花冬青等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0220071"/>
                  </a:ext>
                </a:extLst>
              </a:tr>
              <a:tr h="62860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香樟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香樟树别称有樟树、香樟、樟木、瑶人柴、栳樟、臭樟等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782556"/>
                  </a:ext>
                </a:extLst>
              </a:tr>
              <a:tr h="62860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银杏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银杏树为银杏科、银杏属落叶乔木，别称白果树、公孙树等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333032"/>
                  </a:ext>
                </a:extLst>
              </a:tr>
            </a:tbl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11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loud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基础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基础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oud" id="{684C4EB7-26C3-4A38-BD19-8DE9E7018612}" vid="{2DCF3ED3-219B-45B8-B687-4C369646880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植物</Template>
  <TotalTime>19</TotalTime>
  <Words>367</Words>
  <Application>Microsoft Office PowerPoint</Application>
  <PresentationFormat>宽屏</PresentationFormat>
  <Paragraphs>39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  <vt:variant>
        <vt:lpstr>自定义放映</vt:lpstr>
      </vt:variant>
      <vt:variant>
        <vt:i4>1</vt:i4>
      </vt:variant>
    </vt:vector>
  </HeadingPairs>
  <TitlesOfParts>
    <vt:vector size="13" baseType="lpstr">
      <vt:lpstr>等线</vt:lpstr>
      <vt:lpstr>华文中宋</vt:lpstr>
      <vt:lpstr>宋体</vt:lpstr>
      <vt:lpstr>Corbel</vt:lpstr>
      <vt:lpstr>cloud</vt:lpstr>
      <vt:lpstr>海棠</vt:lpstr>
      <vt:lpstr>概述</vt:lpstr>
      <vt:lpstr>提纲</vt:lpstr>
      <vt:lpstr>植物特征</vt:lpstr>
      <vt:lpstr>主要价值</vt:lpstr>
      <vt:lpstr>生长习性</vt:lpstr>
      <vt:lpstr>植物繁多</vt:lpstr>
      <vt:lpstr>放映方案1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  棠</dc:title>
  <dc:creator>Administrator</dc:creator>
  <cp:lastModifiedBy>PC</cp:lastModifiedBy>
  <cp:revision>8</cp:revision>
  <dcterms:created xsi:type="dcterms:W3CDTF">2023-10-30T01:38:33Z</dcterms:created>
  <dcterms:modified xsi:type="dcterms:W3CDTF">2023-10-30T05:46:41Z</dcterms:modified>
</cp:coreProperties>
</file>